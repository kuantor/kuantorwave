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35D8FF"/>
                </a:solidFill>
                <a:latin typeface="Calibri"/>
              </a:rPr>
              <a:t>One Project, Three Repositories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274320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E24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24CF0"/>
                </a:solidFill>
                <a:latin typeface="Calibri"/>
              </a:rPr>
              <a:t>kuantorwave_cli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A9A4C4"/>
                </a:solidFill>
                <a:latin typeface="Calibri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F2F1F7"/>
                </a:solidFill>
                <a:latin typeface="Calibri"/>
              </a:rPr>
              <a:t>The face. Pure-Python package: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F2F1F7"/>
                </a:solidFill>
                <a:latin typeface="Calibri"/>
              </a:rPr>
              <a:t>core_api wrapper + the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F2F1F7"/>
                </a:solidFill>
                <a:latin typeface="Calibri"/>
              </a:rPr>
              <a:t>kuantorwave CLI command.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274320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35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35D8FF"/>
                </a:solidFill>
                <a:latin typeface="Calibri"/>
              </a:rPr>
              <a:t>kuantorwave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A9A4C4"/>
                </a:solidFill>
                <a:latin typeface="Calibr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F2F1F7"/>
                </a:solidFill>
                <a:latin typeface="Calibri"/>
              </a:rPr>
              <a:t>The engine. Compiled shared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F2F1F7"/>
                </a:solidFill>
                <a:latin typeface="Calibri"/>
              </a:rPr>
              <a:t>library: decode, encode, resample,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F2F1F7"/>
                </a:solidFill>
                <a:latin typeface="Calibri"/>
              </a:rPr>
              <a:t>detect,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20440" cy="274320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FFC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C933"/>
                </a:solidFill>
                <a:latin typeface="Calibri"/>
              </a:rPr>
              <a:t>kw_tests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402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A9A4C4"/>
                </a:solidFill>
                <a:latin typeface="Calibri"/>
              </a:rPr>
              <a:t>pytest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F2F1F7"/>
                </a:solidFill>
                <a:latin typeface="Calibri"/>
              </a:rPr>
              <a:t>The proof. End-to-end regression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F2F1F7"/>
                </a:solidFill>
                <a:latin typeface="Calibri"/>
              </a:rPr>
              <a:t>suite exercising CLI + wrapper +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F2F1F7"/>
                </a:solidFill>
                <a:latin typeface="Calibri"/>
              </a:rPr>
              <a:t>binary together.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31920" y="2697480"/>
            <a:ext cx="548640" cy="256032"/>
          </a:xfrm>
          <a:prstGeom prst="rightArrow">
            <a:avLst/>
          </a:prstGeom>
          <a:solidFill>
            <a:srgbClr val="E24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 rot="10800000">
            <a:off x="7726679" y="2697480"/>
            <a:ext cx="548640" cy="256032"/>
          </a:xfrm>
          <a:prstGeom prst="rightArrow">
            <a:avLst/>
          </a:prstGeom>
          <a:solidFill>
            <a:srgbClr val="FF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35D8FF"/>
                </a:solidFill>
                <a:latin typeface="Calibri"/>
              </a:rPr>
              <a:t>Everything difficult lives in the engine. </a:t>
            </a:r>
            <a:r>
              <a:rPr sz="1500" b="0" i="0">
                <a:solidFill>
                  <a:srgbClr val="F2F1F7"/>
                </a:solidFill>
                <a:latin typeface="Calibri"/>
              </a:rPr>
              <a:t>Python never touches codec internals — it orchestrates eleven C functions behind one stable header.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A9A4C4"/>
                </a:solidFill>
                <a:latin typeface="Calibri"/>
              </a:rPr>
              <a:t>All work is tracked as GitHub issues under the “Core Implementation Phase 1” milestone, linked as sub-issues of kuantorwave#1.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24CF0"/>
                </a:solidFill>
                <a:latin typeface="Calibri"/>
              </a:rPr>
              <a:t>Why C for the Core — Not Pure Python?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35D8FF"/>
                </a:solidFill>
                <a:latin typeface="Calibri"/>
              </a:rPr>
              <a:t>44,100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481328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F1F7"/>
                </a:solidFill>
                <a:latin typeface="Calibri"/>
              </a:rPr>
              <a:t>samples per second, per channel,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F1F7"/>
                </a:solidFill>
                <a:latin typeface="Calibri"/>
              </a:rPr>
              <a:t>in CD-quality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C933"/>
                </a:solidFill>
                <a:latin typeface="Calibri"/>
              </a:rPr>
              <a:t>~16 million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3081528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F1F7"/>
                </a:solidFill>
                <a:latin typeface="Calibri"/>
              </a:rPr>
              <a:t>samples in one three-minute song —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F1F7"/>
                </a:solidFill>
                <a:latin typeface="Calibri"/>
              </a:rPr>
              <a:t>each crunched through MDCTs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F1F7"/>
                </a:solidFill>
                <a:latin typeface="Calibri"/>
              </a:rPr>
              <a:t>filter banks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E24CF0"/>
                </a:solidFill>
                <a:latin typeface="Calibri"/>
              </a:rPr>
              <a:t>50–100×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681728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F1F7"/>
                </a:solidFill>
                <a:latin typeface="Calibri"/>
              </a:rPr>
              <a:t>slower: interpreted Python in tight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F1F7"/>
                </a:solidFill>
                <a:latin typeface="Calibri"/>
              </a:rPr>
              <a:t>numeric loops vs compiled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371600"/>
            <a:ext cx="4754880" cy="237744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35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60020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35D8FF"/>
                </a:solidFill>
                <a:latin typeface="Calibri"/>
              </a:rPr>
              <a:t>The codec ecosystem is C. 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2F1F7"/>
                </a:solidFill>
                <a:latin typeface="Calibri"/>
              </a:rPr>
              <a:t>LAME (MP3), FDK-AAC, FFmpeg, libopus — every production codec is compiled code. Every Python audio library (pydub, librosa, soundfile) is a wrapper over someone's C.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1">
                <a:solidFill>
                  <a:srgbClr val="A9A4C4"/>
                </a:solidFill>
                <a:latin typeface="Calibri"/>
              </a:rPr>
              <a:t>“Audio in Python” always means Python steering C — the only question is whose C it 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023360"/>
            <a:ext cx="4754880" cy="182880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FFC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25196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C933"/>
                </a:solidFill>
                <a:latin typeface="Calibri"/>
              </a:rPr>
              <a:t>The honest caveat. 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2F1F7"/>
                </a:solidFill>
                <a:latin typeface="Calibri"/>
              </a:rPr>
              <a:t>Just converting files? 20 lines of Python around ffmpeg. KuantorWave exists to own the engine: full pipeline control, no external process, an embeddable C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35D8FF"/>
                </a:solidFill>
                <a:latin typeface="Calibri"/>
              </a:rPr>
              <a:t>Architecture: Everything Pivots on PCM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03120"/>
            <a:ext cx="1371600" cy="105156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8A8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input</a:t>
            </a:r>
          </a:p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file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65376" y="2505456"/>
            <a:ext cx="214884" cy="256032"/>
          </a:xfrm>
          <a:prstGeom prst="rightArrow">
            <a:avLst/>
          </a:prstGeom>
          <a:solidFill>
            <a:srgbClr val="A9A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16836" y="2103120"/>
            <a:ext cx="1371600" cy="105156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35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format</a:t>
            </a:r>
          </a:p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detection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25012" y="2505456"/>
            <a:ext cx="214884" cy="256032"/>
          </a:xfrm>
          <a:prstGeom prst="rightArrow">
            <a:avLst/>
          </a:prstGeom>
          <a:solidFill>
            <a:srgbClr val="A9A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76472" y="2103120"/>
            <a:ext cx="1371600" cy="105156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E24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decoder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84648" y="2505456"/>
            <a:ext cx="214884" cy="256032"/>
          </a:xfrm>
          <a:prstGeom prst="rightArrow">
            <a:avLst/>
          </a:prstGeom>
          <a:solidFill>
            <a:srgbClr val="A9A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36108" y="1938528"/>
            <a:ext cx="1371600" cy="1380744"/>
          </a:xfrm>
          <a:prstGeom prst="roundRect">
            <a:avLst/>
          </a:prstGeom>
          <a:solidFill>
            <a:srgbClr val="261F45"/>
          </a:solidFill>
          <a:ln w="15875">
            <a:solidFill>
              <a:srgbClr val="FFC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C933"/>
                </a:solidFill>
                <a:latin typeface="Calibri"/>
              </a:rPr>
              <a:t>PCM</a:t>
            </a:r>
          </a:p>
          <a:p>
            <a:pPr algn="ctr"/>
            <a:r>
              <a:rPr sz="1500" b="1">
                <a:solidFill>
                  <a:srgbClr val="FFC933"/>
                </a:solidFill>
                <a:latin typeface="Calibri"/>
              </a:rPr>
              <a:t>buffer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44284" y="2505456"/>
            <a:ext cx="214884" cy="256032"/>
          </a:xfrm>
          <a:prstGeom prst="rightArrow">
            <a:avLst/>
          </a:prstGeom>
          <a:solidFill>
            <a:srgbClr val="A9A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95744" y="2103120"/>
            <a:ext cx="1371600" cy="105156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35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resampler</a:t>
            </a:r>
          </a:p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(optional)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03920" y="2505456"/>
            <a:ext cx="214884" cy="256032"/>
          </a:xfrm>
          <a:prstGeom prst="rightArrow">
            <a:avLst/>
          </a:prstGeom>
          <a:solidFill>
            <a:srgbClr val="A9A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55380" y="2103120"/>
            <a:ext cx="1371600" cy="105156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E24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encoder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163556" y="2505456"/>
            <a:ext cx="214884" cy="256032"/>
          </a:xfrm>
          <a:prstGeom prst="rightArrow">
            <a:avLst/>
          </a:prstGeom>
          <a:solidFill>
            <a:srgbClr val="A9A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15016" y="2103120"/>
            <a:ext cx="1371600" cy="105156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8A8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output</a:t>
            </a:r>
          </a:p>
          <a:p>
            <a:pPr algn="ctr"/>
            <a:r>
              <a:rPr sz="1300" b="1">
                <a:solidFill>
                  <a:srgbClr val="F2F1F7"/>
                </a:solidFill>
                <a:latin typeface="Calibri"/>
              </a:rPr>
              <a:t>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2F1F7"/>
                </a:solidFill>
                <a:latin typeface="Calibri"/>
              </a:rPr>
              <a:t>Every decoder produces a PCM buffer; every encoder consumes one. No codec ever talks to another codec.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5394960" cy="155448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E24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E24CF0"/>
                </a:solidFill>
                <a:latin typeface="Calibri"/>
              </a:rPr>
              <a:t>N + M, not N × M. 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2F1F7"/>
                </a:solidFill>
                <a:latin typeface="Calibri"/>
              </a:rPr>
              <a:t>Supporting a new format means one decoder or one encoder — never a converter per format pair.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480560"/>
            <a:ext cx="5394960" cy="155448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35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35D8FF"/>
                </a:solidFill>
                <a:latin typeface="Calibri"/>
              </a:rPr>
              <a:t>One header, eleven functions. 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F2F1F7"/>
                </a:solidFill>
                <a:latin typeface="Calibri"/>
              </a:rPr>
              <a:t>include/kuantorwave.h is the whole contract; Python binds it at runtime with ctypes — no compiler in the install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C933"/>
                </a:solidFill>
                <a:latin typeface="Calibri"/>
              </a:rPr>
              <a:t>Phase 1 Task 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846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6949440"/>
                <a:gridCol w="2560320"/>
              </a:tblGrid>
              <a:tr h="4038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5D8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>
                    <a:solidFill>
                      <a:srgbClr val="261F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5D8FF"/>
                          </a:solidFill>
                          <a:latin typeface="Calibri"/>
                        </a:rPr>
                        <a:t>Delivers</a:t>
                      </a:r>
                    </a:p>
                  </a:txBody>
                  <a:tcPr>
                    <a:solidFill>
                      <a:srgbClr val="261F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5D8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61F4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#5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Core architecture: header, module map, ctypes decision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AD98A"/>
                          </a:solidFill>
                          <a:latin typeface="Calibri"/>
                        </a:rPr>
                        <a:t>Done · PR #12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#6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Format detection from magic bytes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AD98A"/>
                          </a:solidFill>
                          <a:latin typeface="Calibri"/>
                        </a:rPr>
                        <a:t>Done · PR #13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#7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PCM buffer subsystem — the pivot type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Next up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#8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Decoder: AAC (M4A), MP3, WAV → PCM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879E"/>
                          </a:solidFill>
                          <a:latin typeface="Calibri"/>
                        </a:rPr>
                        <a:t>To do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#9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Encoder: PCM → MP3, AAC (M4A)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879E"/>
                          </a:solidFill>
                          <a:latin typeface="Calibri"/>
                        </a:rPr>
                        <a:t>To do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#10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Resampler: 44.1 kHz ↔ 48 kHz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879E"/>
                          </a:solidFill>
                          <a:latin typeface="Calibri"/>
                        </a:rPr>
                        <a:t>To do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#11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Metadata: duration, bitrate, rate, channels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879E"/>
                          </a:solidFill>
                          <a:latin typeface="Calibri"/>
                        </a:rPr>
                        <a:t>To do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cli#1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Python wrapper: core_api via ctypes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879E"/>
                          </a:solidFill>
                          <a:latin typeface="Calibri"/>
                        </a:rPr>
                        <a:t>To do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cli#2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CLI: kuantorwave convert / metadata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879E"/>
                          </a:solidFill>
                          <a:latin typeface="Calibri"/>
                        </a:rPr>
                        <a:t>To do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kw_tests#1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End-to-end regression suite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879E"/>
                          </a:solidFill>
                          <a:latin typeface="Calibri"/>
                        </a:rPr>
                        <a:t>To do</a:t>
                      </a:r>
                    </a:p>
                  </a:txBody>
                  <a:tcPr marT="38100" marB="38100">
                    <a:solidFill>
                      <a:srgbClr val="0E0B1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C933"/>
                          </a:solidFill>
                          <a:latin typeface="Calibri"/>
                        </a:rPr>
                        <a:t>#14 · #16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1F7"/>
                          </a:solidFill>
                          <a:latin typeface="Calibri"/>
                        </a:rPr>
                        <a:t>Tutorial document · this deck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AD98A"/>
                          </a:solidFill>
                          <a:latin typeface="Calibri"/>
                        </a:rPr>
                        <a:t>Done · Now</a:t>
                      </a:r>
                    </a:p>
                  </a:txBody>
                  <a:tcPr marT="38100" marB="38100">
                    <a:solidFill>
                      <a:srgbClr val="1C17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E24CF0"/>
                </a:solidFill>
                <a:latin typeface="Calibri"/>
              </a:rPr>
              <a:t>The Build Story: Contract First, Proof Last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084831" cy="320040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5AD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5A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0B1A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6276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5AD98A"/>
                </a:solidFill>
                <a:latin typeface="Calibri"/>
              </a:rPr>
              <a:t>The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16276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A9A4C4"/>
                </a:solidFill>
                <a:latin typeface="Calibri"/>
              </a:rPr>
              <a:t>#5 — merged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16276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Header + architecture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doc + ctypes ADR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9775" y="1554480"/>
            <a:ext cx="2084831" cy="320040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FFC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08375" y="1783080"/>
            <a:ext cx="502920" cy="502920"/>
          </a:xfrm>
          <a:prstGeom prst="ellipse">
            <a:avLst/>
          </a:prstGeom>
          <a:solidFill>
            <a:srgbClr val="FF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0B1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5" y="2468880"/>
            <a:ext cx="16276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C933"/>
                </a:solidFill>
                <a:latin typeface="Calibri"/>
              </a:rPr>
              <a:t>Eyes &amp; hands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5" y="2926080"/>
            <a:ext cx="16276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A9A4C4"/>
                </a:solidFill>
                <a:latin typeface="Calibri"/>
              </a:rPr>
              <a:t>#6 ✓ · #7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5" y="3337560"/>
            <a:ext cx="16276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Format detection;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PCM pivot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0910" y="1554480"/>
            <a:ext cx="2084831" cy="320040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35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39510" y="1783080"/>
            <a:ext cx="502920" cy="502920"/>
          </a:xfrm>
          <a:prstGeom prst="ellipse">
            <a:avLst/>
          </a:prstGeom>
          <a:solidFill>
            <a:srgbClr val="35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0B1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0" y="2468880"/>
            <a:ext cx="16276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35D8FF"/>
                </a:solidFill>
                <a:latin typeface="Calibri"/>
              </a:rPr>
              <a:t>Pipeline organs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0" y="2926080"/>
            <a:ext cx="16276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A9A4C4"/>
                </a:solidFill>
                <a:latin typeface="Calibri"/>
              </a:rPr>
              <a:t>#8 – #11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0" y="3337560"/>
            <a:ext cx="16276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Decoder, encoder,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resampler, metadata —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in parallel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2045" y="1554480"/>
            <a:ext cx="2084831" cy="320040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E24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70645" y="1783080"/>
            <a:ext cx="502920" cy="502920"/>
          </a:xfrm>
          <a:prstGeom prst="ellipse">
            <a:avLst/>
          </a:prstGeom>
          <a:solidFill>
            <a:srgbClr val="E24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0B1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5" y="2468880"/>
            <a:ext cx="16276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E24CF0"/>
                </a:solidFill>
                <a:latin typeface="Calibri"/>
              </a:rPr>
              <a:t>Python 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5" y="2926080"/>
            <a:ext cx="16276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A9A4C4"/>
                </a:solidFill>
                <a:latin typeface="Calibri"/>
              </a:rPr>
              <a:t>cli#1 · cli#2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5" y="3337560"/>
            <a:ext cx="16276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ctypes wrapper,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then the CLI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73180" y="1554480"/>
            <a:ext cx="2084831" cy="320040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FFC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01780" y="1783080"/>
            <a:ext cx="502920" cy="502920"/>
          </a:xfrm>
          <a:prstGeom prst="ellipse">
            <a:avLst/>
          </a:prstGeom>
          <a:solidFill>
            <a:srgbClr val="FFC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E0B1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1780" y="2468880"/>
            <a:ext cx="16276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C933"/>
                </a:solidFill>
                <a:latin typeface="Calibri"/>
              </a:rPr>
              <a:t>The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80" y="2926080"/>
            <a:ext cx="16276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A9A4C4"/>
                </a:solidFill>
                <a:latin typeface="Calibri"/>
              </a:rPr>
              <a:t>kw_tests#1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780" y="3337560"/>
            <a:ext cx="16276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Regression suite: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2F1F7"/>
                </a:solidFill>
                <a:latin typeface="Calibri"/>
              </a:rPr>
              <a:t>green = Phase 1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E24CF0"/>
                </a:solidFill>
                <a:latin typeface="Calibri"/>
              </a:rPr>
              <a:t>Why this order? </a:t>
            </a:r>
            <a:r>
              <a:rPr sz="1500" b="0" i="0">
                <a:solidFill>
                  <a:srgbClr val="F2F1F7"/>
                </a:solidFill>
                <a:latin typeface="Calibri"/>
              </a:rPr>
              <a:t>Each stage fixes the contract the next implements against — the header lets the wrapper start before the core is finished, and PCM must exist before any codec can.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35D8FF"/>
                </a:solidFill>
                <a:latin typeface="Calibri"/>
              </a:rPr>
              <a:t>Where We Are, and 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394960" cy="329184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5AD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5AD98A"/>
                </a:solidFill>
                <a:latin typeface="Calibri"/>
              </a:rPr>
              <a:t>Merged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0" i="0">
                <a:solidFill>
                  <a:srgbClr val="F2F1F7"/>
                </a:solidFill>
                <a:latin typeface="Calibri"/>
              </a:rPr>
              <a:t>PR #12 — the eleven-function C API, architecture doc, ctypes ADR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0" i="0">
                <a:solidFill>
                  <a:srgbClr val="F2F1F7"/>
                </a:solidFill>
                <a:latin typeface="Calibri"/>
              </a:rPr>
              <a:t>PR #13 — format detection module + first CMake build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0" i="0">
                <a:solidFill>
                  <a:srgbClr val="F2F1F7"/>
                </a:solidFill>
                <a:latin typeface="Calibri"/>
              </a:rPr>
              <a:t>PR #15 — the project tutorial document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 i="0">
                <a:solidFill>
                  <a:srgbClr val="A9A4C4"/>
                </a:solidFill>
                <a:latin typeface="Calibri"/>
              </a:rPr>
              <a:t>CI green on Linux, Windows, macOS — every push compiles and tests on all three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3291840"/>
          </a:xfrm>
          <a:prstGeom prst="roundRect">
            <a:avLst/>
          </a:prstGeom>
          <a:solidFill>
            <a:srgbClr val="1C1733"/>
          </a:solidFill>
          <a:ln w="15875">
            <a:solidFill>
              <a:srgbClr val="FFC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69164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FFC933"/>
                </a:solidFill>
                <a:latin typeface="Calibri"/>
              </a:rPr>
              <a:t>Next up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0" i="0">
                <a:solidFill>
                  <a:srgbClr val="F2F1F7"/>
                </a:solidFill>
                <a:latin typeface="Calibri"/>
              </a:rPr>
              <a:t>#7 PCM buffer — the pivot type with sanitizer-checked memory tests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0" i="0">
                <a:solidFill>
                  <a:srgbClr val="F2F1F7"/>
                </a:solidFill>
                <a:latin typeface="Calibri"/>
              </a:rPr>
              <a:t>then #8 decoder + #9 encoder — the first end-to-end kw_convert()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0" i="0">
                <a:solidFill>
                  <a:srgbClr val="F2F1F7"/>
                </a:solidFill>
                <a:latin typeface="Calibri"/>
              </a:rPr>
              <a:t>then the Python wrapper, the CLI, and the regression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11064240" cy="1051560"/>
          </a:xfrm>
          <a:prstGeom prst="roundRect">
            <a:avLst/>
          </a:prstGeom>
          <a:solidFill>
            <a:srgbClr val="261F45"/>
          </a:solidFill>
          <a:ln w="15875">
            <a:solidFill>
              <a:srgbClr val="35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35D8FF"/>
                </a:solidFill>
                <a:latin typeface="Courier New"/>
              </a:rPr>
              <a:t>$ kuantorwave convert input.m4a output.mp3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1">
                <a:solidFill>
                  <a:srgbClr val="A9A4C4"/>
                </a:solidFill>
                <a:latin typeface="Calibri"/>
              </a:rPr>
              <a:t>the Phase 1 finish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